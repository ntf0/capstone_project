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10"/>
  </p:normalViewPr>
  <p:slideViewPr>
    <p:cSldViewPr snapToGrid="0" snapToObjects="1">
      <p:cViewPr>
        <p:scale>
          <a:sx n="50" d="100"/>
          <a:sy n="50" d="100"/>
        </p:scale>
        <p:origin x="-29" y="9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Outliers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628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attempt_count</c:v>
                </c:pt>
                <c:pt idx="1">
                  <c:v>hint_count</c:v>
                </c:pt>
                <c:pt idx="2">
                  <c:v>opportunity</c:v>
                </c:pt>
                <c:pt idx="3">
                  <c:v>overlap_time</c:v>
                </c:pt>
                <c:pt idx="4">
                  <c:v>ms_first_response</c:v>
                </c:pt>
                <c:pt idx="5">
                  <c:v>first_action</c:v>
                </c:pt>
                <c:pt idx="6">
                  <c:v>position</c:v>
                </c:pt>
                <c:pt idx="7">
                  <c:v>hint_total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21.01</c:v>
                </c:pt>
                <c:pt idx="1">
                  <c:v>17.579999999999998</c:v>
                </c:pt>
                <c:pt idx="2">
                  <c:v>11.47</c:v>
                </c:pt>
                <c:pt idx="3">
                  <c:v>9.6</c:v>
                </c:pt>
                <c:pt idx="4">
                  <c:v>9.2899999999999991</c:v>
                </c:pt>
                <c:pt idx="5">
                  <c:v>9.18</c:v>
                </c:pt>
                <c:pt idx="6">
                  <c:v>4.33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1C-4BB6-8935-618419DE3E4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628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CE6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7083"/>
                    </a:solidFill>
                    <a:latin typeface="Arial"/>
                  </a:defRPr>
                </a:pPr>
                <a:r>
                  <a:rPr lang="en-US" sz="1000" b="0" i="0" u="none" strike="noStrike" dirty="0">
                    <a:solidFill>
                      <a:srgbClr val="5B7083"/>
                    </a:solidFill>
                    <a:latin typeface="Arial"/>
                  </a:rPr>
                  <a:t>% of rows flagged as outliers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0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Outliers</c:v>
                </c:pt>
              </c:strCache>
            </c:strRef>
          </c:tx>
          <c:spPr>
            <a:solidFill>
              <a:srgbClr val="0B3350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628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total_carts</c:v>
                </c:pt>
                <c:pt idx="1">
                  <c:v>view_to_cart_rate</c:v>
                </c:pt>
                <c:pt idx="2">
                  <c:v>total_spending</c:v>
                </c:pt>
                <c:pt idx="3">
                  <c:v>avg_purch_price</c:v>
                </c:pt>
                <c:pt idx="4">
                  <c:v>total_purchases</c:v>
                </c:pt>
                <c:pt idx="5">
                  <c:v>unique_brands</c:v>
                </c:pt>
                <c:pt idx="6">
                  <c:v>total_events</c:v>
                </c:pt>
                <c:pt idx="7">
                  <c:v>unique_categories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22.36</c:v>
                </c:pt>
                <c:pt idx="1">
                  <c:v>22.35</c:v>
                </c:pt>
                <c:pt idx="2">
                  <c:v>11.95</c:v>
                </c:pt>
                <c:pt idx="3">
                  <c:v>11.95</c:v>
                </c:pt>
                <c:pt idx="4">
                  <c:v>11.95</c:v>
                </c:pt>
                <c:pt idx="5">
                  <c:v>11.75</c:v>
                </c:pt>
                <c:pt idx="6">
                  <c:v>11.51</c:v>
                </c:pt>
                <c:pt idx="7">
                  <c:v>9.86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76-4BF4-8F1D-5511B2D6214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628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CE6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7083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5B7083"/>
                    </a:solidFill>
                    <a:latin typeface="Arial"/>
                  </a:rPr>
                  <a:t>% of rows flagged as outliers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0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Outliers</c:v>
                </c:pt>
              </c:strCache>
            </c:strRef>
          </c:tx>
          <c:spPr>
            <a:solidFill>
              <a:srgbClr val="C97F16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628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Anxiety Level</c:v>
                </c:pt>
                <c:pt idx="1">
                  <c:v>Therapy Sessions</c:v>
                </c:pt>
                <c:pt idx="2">
                  <c:v>Sleep Hours</c:v>
                </c:pt>
                <c:pt idx="3">
                  <c:v>Physical Activity</c:v>
                </c:pt>
                <c:pt idx="4">
                  <c:v>All others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2.93</c:v>
                </c:pt>
                <c:pt idx="1">
                  <c:v>1.62</c:v>
                </c:pt>
                <c:pt idx="2">
                  <c:v>1</c:v>
                </c:pt>
                <c:pt idx="3">
                  <c:v>0.51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03-4188-B658-336E992A4C4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628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CE6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7083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5B7083"/>
                    </a:solidFill>
                    <a:latin typeface="Arial"/>
                  </a:rPr>
                  <a:t>% of rows flagged as outliers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0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2171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81F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32720" y="4206240"/>
            <a:ext cx="3840480" cy="38404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· CAPSTONE PART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Lightning Talk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Project Proposals: Problem Statements, Goals &amp; Exploratory Data Analysis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per topic  ·  Clustering &amp; Regression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Three Proposals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topic covers a problem statement, goal, and basic EDA findings.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383280" cy="411480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B3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2400" b="1" dirty="0">
                <a:solidFill>
                  <a:srgbClr val="16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Behavior</a:t>
            </a:r>
            <a:endParaRPr lang="en-US" sz="2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2400" b="1" dirty="0">
                <a:solidFill>
                  <a:srgbClr val="16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3794760"/>
            <a:ext cx="2834640" cy="329184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379476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· Clustering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700"/>
              </a:lnSpc>
            </a:pPr>
            <a:r>
              <a:rPr lang="en-US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 Through Student Behavior Clustering</a:t>
            </a:r>
          </a:p>
        </p:txBody>
      </p:sp>
      <p:sp>
        <p:nvSpPr>
          <p:cNvPr id="10" name="Shape 8"/>
          <p:cNvSpPr/>
          <p:nvPr/>
        </p:nvSpPr>
        <p:spPr>
          <a:xfrm>
            <a:off x="4343400" y="1920240"/>
            <a:ext cx="3383280" cy="411480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B3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17720" y="2194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17720" y="283464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2300" b="1" dirty="0">
                <a:solidFill>
                  <a:srgbClr val="16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Behavior</a:t>
            </a:r>
            <a:endParaRPr lang="en-US" sz="2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2300" b="1" dirty="0">
                <a:solidFill>
                  <a:srgbClr val="16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4617720" y="3794760"/>
            <a:ext cx="2834640" cy="329184"/>
          </a:xfrm>
          <a:prstGeom prst="roundRect">
            <a:avLst>
              <a:gd name="adj" fmla="val 16667"/>
            </a:avLst>
          </a:prstGeom>
          <a:solidFill>
            <a:srgbClr val="0B33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17720" y="379476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· Clustering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617720" y="429768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shoppers to recommend product bundles.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8046720" y="1920240"/>
            <a:ext cx="3383280" cy="411480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B3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21040" y="2194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321040" y="283464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2400" b="1" dirty="0">
                <a:solidFill>
                  <a:srgbClr val="16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</a:t>
            </a:r>
            <a:endParaRPr lang="en-US" sz="2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2400" b="1" dirty="0">
                <a:solidFill>
                  <a:srgbClr val="16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Anxiety Levels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321040" y="3794760"/>
            <a:ext cx="2834640" cy="329184"/>
          </a:xfrm>
          <a:prstGeom prst="roundRect">
            <a:avLst>
              <a:gd name="adj" fmla="val 16667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21040" y="379476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· Regression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321040" y="429768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Estimating social anxiety scores from lifestyle &amp; psychological factors.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57200" y="646256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Lightning Talk 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463040" y="4663440"/>
            <a:ext cx="4114800" cy="41148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>
                    <a:alpha val="8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Learning Through</a:t>
            </a:r>
            <a:endParaRPr lang="en-US" sz="2800" dirty="0"/>
          </a:p>
          <a:p>
            <a:pPr marL="0" indent="0">
              <a:lnSpc>
                <a:spcPts val="27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Behavior Clustering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ASSISTments Skill-Builder Data (2009–2010)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5623560"/>
            <a:ext cx="33375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562356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— Clustering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663440" y="548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663440" y="91440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24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tutoring platforms like ASSISTments capture rich behavioral data — accuracy, response time, attempts, and hint usage — yet students with very different learning behaviors often receive the same, generic experience.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63440" y="3200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/ AIM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4663440" y="3566160"/>
            <a:ext cx="68580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B3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937760" y="37947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30" dirty="0"/>
          </a:p>
        </p:txBody>
      </p:sp>
      <p:sp>
        <p:nvSpPr>
          <p:cNvPr id="15" name="Text 13"/>
          <p:cNvSpPr/>
          <p:nvPr/>
        </p:nvSpPr>
        <p:spPr>
          <a:xfrm>
            <a:off x="5669280" y="3703320"/>
            <a:ext cx="56235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24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students by learning behavior to build learning profiles that power personalized instruction and data-driven support.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UNSUPERVISED LEARNING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Learning Through Student Behavior Clustering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Snapshot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B2B3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737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TYPE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62432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31089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47288" y="15087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B2B3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75888" y="1737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75888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3675888" y="23774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675888" y="262432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346,860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75888" y="31089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columns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54496" y="15087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B2B3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83096" y="1737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83096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6483096" y="23774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COLS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83096" y="262432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83096" y="31089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features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061704" y="15087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B2B3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290304" y="1737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290304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30" dirty="0"/>
          </a:p>
        </p:txBody>
      </p:sp>
      <p:sp>
        <p:nvSpPr>
          <p:cNvPr id="25" name="Text 23"/>
          <p:cNvSpPr/>
          <p:nvPr/>
        </p:nvSpPr>
        <p:spPr>
          <a:xfrm>
            <a:off x="9290304" y="23774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COLS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290304" y="262432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290304" y="31089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features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370332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EA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14400" y="3858768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of 31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914400" y="3794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200400" y="3840480"/>
            <a:ext cx="8092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skill_id (63,755) · skill_name (72,270) · answer_id (306,818) · answer_text (77,630) · bottom_hint (287,003) · opportunity_original (71,402)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UNSUPERVISED LEARNING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Learning Through Student Behavior Clustering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Analysis (IQR Method)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70408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417320"/>
            <a:ext cx="3749040" cy="4206240"/>
          </a:xfrm>
          <a:prstGeom prst="roundRect">
            <a:avLst>
              <a:gd name="adj" fmla="val 243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092440" y="16916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09244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60" dirty="0"/>
          </a:p>
        </p:txBody>
      </p:sp>
      <p:sp>
        <p:nvSpPr>
          <p:cNvPr id="8" name="Text 5"/>
          <p:cNvSpPr/>
          <p:nvPr/>
        </p:nvSpPr>
        <p:spPr>
          <a:xfrm>
            <a:off x="8092440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092440" y="2375408"/>
            <a:ext cx="3200400" cy="241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attempt_count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(21.0%) and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hint_count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(17.6%) show the most extreme values — likely real struggling-student behavior, not data errors. Plan: keep outliers, scale with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RobustScaler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UNSUPERVISED LEARNING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B33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463040" y="4663440"/>
            <a:ext cx="4114800" cy="41148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>
                    <a:alpha val="8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Behavior-Based Product Group</a:t>
            </a:r>
            <a:endParaRPr lang="en-US" sz="2400" dirty="0"/>
          </a:p>
          <a:p>
            <a:pPr marL="0" indent="0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Multi-Category Store Events (Nov 2019)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5623560"/>
            <a:ext cx="33375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562356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— Clustering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663440" y="548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663440" y="91440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22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platforms log huge volumes of view/cart/purchase events, but most recommenders suggest single products rather than groups — limiting relevance and cross-sell opportunities.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63440" y="3200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/ AIM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3566160"/>
            <a:ext cx="68580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B3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937760" y="3794760"/>
            <a:ext cx="502920" cy="502920"/>
          </a:xfrm>
          <a:prstGeom prst="ellipse">
            <a:avLst/>
          </a:prstGeom>
          <a:solidFill>
            <a:srgbClr val="0B33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30" dirty="0"/>
          </a:p>
        </p:txBody>
      </p:sp>
      <p:sp>
        <p:nvSpPr>
          <p:cNvPr id="15" name="Text 13"/>
          <p:cNvSpPr/>
          <p:nvPr/>
        </p:nvSpPr>
        <p:spPr>
          <a:xfrm>
            <a:off x="5669280" y="3703320"/>
            <a:ext cx="56235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22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customers by shopping behavior to recommend personalized groups of products and improve the shopping experience.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UNSUPERVISED LEARNING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Behavior-Based Product Group Recommendation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Snapshot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B2B3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737360"/>
            <a:ext cx="502920" cy="502920"/>
          </a:xfrm>
          <a:prstGeom prst="ellipse">
            <a:avLst/>
          </a:prstGeom>
          <a:solidFill>
            <a:srgbClr val="0B33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TYPE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62432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31089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47288" y="15087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B2B3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75888" y="1737360"/>
            <a:ext cx="502920" cy="502920"/>
          </a:xfrm>
          <a:prstGeom prst="ellipse">
            <a:avLst/>
          </a:prstGeom>
          <a:solidFill>
            <a:srgbClr val="0B33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75888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3675888" y="23774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75888" y="262432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67,501,979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75888" y="31089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columns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54496" y="15087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B2B3A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483096" y="1737360"/>
            <a:ext cx="502920" cy="502920"/>
          </a:xfrm>
          <a:prstGeom prst="ellipse">
            <a:avLst/>
          </a:prstGeom>
          <a:solidFill>
            <a:srgbClr val="0B33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83096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6483096" y="23774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COLS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83096" y="262432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83096" y="31089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features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061704" y="15087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B2B3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290304" y="1737360"/>
            <a:ext cx="502920" cy="502920"/>
          </a:xfrm>
          <a:prstGeom prst="ellipse">
            <a:avLst/>
          </a:prstGeom>
          <a:solidFill>
            <a:srgbClr val="0B33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290304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30" dirty="0"/>
          </a:p>
        </p:txBody>
      </p:sp>
      <p:sp>
        <p:nvSpPr>
          <p:cNvPr id="25" name="Text 23"/>
          <p:cNvSpPr/>
          <p:nvPr/>
        </p:nvSpPr>
        <p:spPr>
          <a:xfrm>
            <a:off x="9290304" y="23774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COLS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90304" y="262432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290304" y="31089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features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080" y="370332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EA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14400" y="3813048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of 9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914400" y="3794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0" y="3840480"/>
            <a:ext cx="8092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category_code (21,898,171) · brand (9,224,078) · user_session (10) — the remaining 6 columns are complete.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UNSUPERVISED LEARNING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Behavior-Based Product Group Recommendation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Analysis (IQR Method)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70408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417320"/>
            <a:ext cx="3749040" cy="4206240"/>
          </a:xfrm>
          <a:prstGeom prst="roundRect">
            <a:avLst>
              <a:gd name="adj" fmla="val 2439"/>
            </a:avLst>
          </a:prstGeom>
          <a:solidFill>
            <a:srgbClr val="0B33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092440" y="16916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09244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60" dirty="0"/>
          </a:p>
        </p:txBody>
      </p:sp>
      <p:sp>
        <p:nvSpPr>
          <p:cNvPr id="8" name="Text 5"/>
          <p:cNvSpPr/>
          <p:nvPr/>
        </p:nvSpPr>
        <p:spPr>
          <a:xfrm>
            <a:off x="8092440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092440" y="2743200"/>
            <a:ext cx="3200400" cy="15520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aggregating to per-customer features, total_carts and view_to_cart_rate lead at ~22%. Plan: retain outliers (high-value customers), scale with RobustScaler.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UNSUPERVISED LEARNING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463040" y="4663440"/>
            <a:ext cx="4114800" cy="41148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>
                    <a:alpha val="8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Anxiety Levels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Demographic, Lifestyle &amp; Psychological Factors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5623560"/>
            <a:ext cx="33375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562356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— Regression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663440" y="548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C9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663440" y="91440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20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Anxiety is one of the most common mental health conditions and can significantly affect well-being and productivity. Early identification can support timely, personalized intervention.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63440" y="3200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C9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/ AIM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663440" y="3566160"/>
            <a:ext cx="68580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B3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937760" y="379476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30" dirty="0"/>
          </a:p>
        </p:txBody>
      </p:sp>
      <p:sp>
        <p:nvSpPr>
          <p:cNvPr id="15" name="Text 13"/>
          <p:cNvSpPr/>
          <p:nvPr/>
        </p:nvSpPr>
        <p:spPr>
          <a:xfrm>
            <a:off x="5669280" y="3703320"/>
            <a:ext cx="56235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20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regression model that predicts an individual's anxiety level (1–10) from demographic, lifestyle, physiological, and psychological factors.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SUPERVISED LEARNING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Anxiety Levels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Snapshot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B2B3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73736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TYPE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62432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31089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47288" y="15087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B2B3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75888" y="173736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75888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3675888" y="23774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75888" y="262432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columns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75888" y="31089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predictors + 1 target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54496" y="15087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B2B3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83096" y="173736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83096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6483096" y="23774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COLS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83096" y="262432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83096" y="31089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features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061704" y="15087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B2B3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290304" y="173736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290304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30" dirty="0"/>
          </a:p>
        </p:txBody>
      </p:sp>
      <p:sp>
        <p:nvSpPr>
          <p:cNvPr id="25" name="Text 23"/>
          <p:cNvSpPr/>
          <p:nvPr/>
        </p:nvSpPr>
        <p:spPr>
          <a:xfrm>
            <a:off x="9290304" y="23774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COLS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90304" y="262432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290304" y="31089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features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080" y="370332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EA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14400" y="3813048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7F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of 19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914400" y="3794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200400" y="3840480"/>
            <a:ext cx="8092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complete — no imputation or row removal required before preprocessing.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SUPERVISED LEARNING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Anxiety Levels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Analysis (IQR Method)</a:t>
            </a:r>
            <a:endParaRPr lang="en-US" sz="1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70408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417320"/>
            <a:ext cx="3749040" cy="4206240"/>
          </a:xfrm>
          <a:prstGeom prst="roundRect">
            <a:avLst>
              <a:gd name="adj" fmla="val 243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092440" y="16916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09244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C9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60" dirty="0"/>
          </a:p>
        </p:txBody>
      </p:sp>
      <p:sp>
        <p:nvSpPr>
          <p:cNvPr id="8" name="Text 5"/>
          <p:cNvSpPr/>
          <p:nvPr/>
        </p:nvSpPr>
        <p:spPr>
          <a:xfrm>
            <a:off x="8092440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092440" y="2365865"/>
            <a:ext cx="32004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are minimal (&lt;3% everywhere). Plan: retain all values as genuine variation; scale numeric features with StandardScaler before modeling.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SUPERVISED LEARNING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81F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CF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on these three proposals will guide the final Capstone topic selection — balancing feasibility, data quality, and real-world impact.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e069c64-97de-41b1-b6a5-363c07bccaa3}" enabled="1" method="Standard" siteId="{026137b5-e313-46d1-9b2f-026ecb50c84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751</Words>
  <Application>Microsoft Office PowerPoint</Application>
  <PresentationFormat>Widescreen</PresentationFormat>
  <Paragraphs>166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ELIAS ABDULSHAHEED A.AMEER ABBAS</cp:lastModifiedBy>
  <cp:revision>3</cp:revision>
  <dcterms:created xsi:type="dcterms:W3CDTF">2026-08-06T07:40:28Z</dcterms:created>
  <dcterms:modified xsi:type="dcterms:W3CDTF">2026-08-06T10:14:26Z</dcterms:modified>
</cp:coreProperties>
</file>