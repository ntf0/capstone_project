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3E5C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365760"/>
            <a:ext cx="3108960" cy="3108960"/>
          </a:xfrm>
          <a:prstGeom prst="ellipse">
            <a:avLst/>
          </a:prstGeom>
          <a:solidFill>
            <a:srgbClr val="E4572E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120640"/>
            <a:ext cx="2743200" cy="2743200"/>
          </a:xfrm>
          <a:prstGeom prst="ellipse">
            <a:avLst/>
          </a:prstGeom>
          <a:solidFill>
            <a:srgbClr val="3E5C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TALK #2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Uncovering Student Learning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Profiles Through Clustering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approach to grouping students by performance, effort, and help-seeking behavior on the ASSISTments platform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Capstone  ·  Part 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Refined 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0" cy="4480560"/>
          </a:xfrm>
          <a:prstGeom prst="roundRect">
            <a:avLst>
              <a:gd name="adj" fmla="val 1633"/>
            </a:avLst>
          </a:prstGeom>
          <a:solidFill>
            <a:srgbClr val="F7F8FB"/>
          </a:solidFill>
          <a:ln w="12700">
            <a:solidFill>
              <a:srgbClr val="E4E8F0"/>
            </a:solidFill>
            <a:prstDash val="solid"/>
          </a:ln>
        </p:spPr>
      </p:sp>
      <p:pic>
        <p:nvPicPr>
          <p:cNvPr id="5" name="Image 0" descr="icons/users_E457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6217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platforms like ASSISTments capture rich data on how students attempt problems, request hints, and respond over time — but every student learns differently, making it hard for educators to know who needs what kind of support.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68680" y="3794760"/>
            <a:ext cx="621792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pic>
        <p:nvPicPr>
          <p:cNvPr id="9" name="Image 1" descr="icons/bullseye_E4572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9776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977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8680" y="4572000"/>
            <a:ext cx="6217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distinct student learning profiles — based on accuracy, attempts, response time, hint usage, and practice volume — so educators can understand learning needs and target interventions accordingly.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635240" y="155448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sp>
        <p:nvSpPr>
          <p:cNvPr id="13" name="Text 9"/>
          <p:cNvSpPr/>
          <p:nvPr/>
        </p:nvSpPr>
        <p:spPr>
          <a:xfrm>
            <a:off x="795528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55280" y="2286000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1"/>
          <p:cNvSpPr/>
          <p:nvPr/>
        </p:nvSpPr>
        <p:spPr>
          <a:xfrm>
            <a:off x="8211312" y="21671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211312" y="2459736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&gt; 0.30 to confirm clusters are well-separated and cohesive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955280" y="327355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8" name="Text 14"/>
          <p:cNvSpPr/>
          <p:nvPr/>
        </p:nvSpPr>
        <p:spPr>
          <a:xfrm>
            <a:off x="8211312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Stability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8211312" y="344728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grouping across re-sampling / different random seeds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955280" y="4261104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/>
          <p:nvPr/>
        </p:nvSpPr>
        <p:spPr>
          <a:xfrm>
            <a:off x="8211312" y="41422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8211312" y="44348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profile maps to a clear, actionable behavior pattern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7955280" y="5248656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4" name="Text 20"/>
          <p:cNvSpPr/>
          <p:nvPr/>
        </p:nvSpPr>
        <p:spPr>
          <a:xfrm>
            <a:off x="8211312" y="512978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Impact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8211312" y="542239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that could support a 10% lift in student performance via targeted intervention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Audience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pic>
        <p:nvPicPr>
          <p:cNvPr id="6" name="Image 0" descr="icons/teach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77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461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Teachers &amp; Tutors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690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students are struggling, guessing, or over-relying on hints in real time, and target support accordingly.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56432" y="182880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3E5C93"/>
          </a:solidFill>
          <a:ln/>
        </p:spPr>
      </p:sp>
      <p:sp>
        <p:nvSpPr>
          <p:cNvPr id="10" name="Shape 7"/>
          <p:cNvSpPr/>
          <p:nvPr/>
        </p:nvSpPr>
        <p:spPr>
          <a:xfrm>
            <a:off x="3776472" y="21945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pic>
        <p:nvPicPr>
          <p:cNvPr id="11" name="Image 1" descr="icons/school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23774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30752" y="32461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Administrators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30752" y="40690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tutoring resources and intervention programs based on the share of students in each learning profile.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64224" y="182880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6684264" y="21945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pic>
        <p:nvPicPr>
          <p:cNvPr id="16" name="Image 2" descr="icons/boo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144" y="23774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38544" y="32461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 Designers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638544" y="40690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hint scaffolding, pacing, and problem difficulty for the behavior patterns that show up most often.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272016" y="182880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3E5C93"/>
          </a:solidFill>
          <a:ln/>
        </p:spPr>
      </p:sp>
      <p:sp>
        <p:nvSpPr>
          <p:cNvPr id="20" name="Shape 15"/>
          <p:cNvSpPr/>
          <p:nvPr/>
        </p:nvSpPr>
        <p:spPr>
          <a:xfrm>
            <a:off x="9592056" y="21945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pic>
        <p:nvPicPr>
          <p:cNvPr id="21" name="Image 3" descr="icons/lapto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36" y="23774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46336" y="32461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EdTech Product Teams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546336" y="40690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adaptive-learning features (e.g. ASSISTments) that respond automatically to a student's profile.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7F8FB"/>
          </a:solidFill>
          <a:ln w="12700">
            <a:solidFill>
              <a:srgbClr val="E4E8F0"/>
            </a:solidFill>
            <a:prstDash val="solid"/>
          </a:ln>
        </p:spPr>
      </p:sp>
      <p:pic>
        <p:nvPicPr>
          <p:cNvPr id="5" name="Image 0" descr="icons/cluster_E457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28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Type: Unsupervised Clustering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labeled target — students are grouped by similarity across engineered behavior features, not predicted against a known outcome.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737360" y="31546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models planned: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Hierarchical · DBSCAN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886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7F8FB"/>
          </a:solidFill>
          <a:ln w="12700">
            <a:solidFill>
              <a:srgbClr val="E4E8F0"/>
            </a:solidFill>
            <a:prstDash val="solid"/>
          </a:ln>
        </p:spPr>
      </p:sp>
      <p:pic>
        <p:nvPicPr>
          <p:cNvPr id="11" name="Image 1" descr="icons/bulb_E4572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114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4114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 Guiding the Work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22960" y="46634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behavior features drive the groupings?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22960" y="509320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feature engineering improve cluster quality?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22960" y="552297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do the three model types compare?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26364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</p:spPr>
      </p:sp>
      <p:pic>
        <p:nvPicPr>
          <p:cNvPr id="17" name="Image 2" descr="icons/cha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288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32320" y="18288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537960" y="2514600"/>
            <a:ext cx="54864" cy="7772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0" name="Text 15"/>
          <p:cNvSpPr/>
          <p:nvPr/>
        </p:nvSpPr>
        <p:spPr>
          <a:xfrm>
            <a:off x="6766560" y="24871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766560" y="27889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within-cluster variance vs. K to find the point of diminishing returns.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537960" y="3474720"/>
            <a:ext cx="54864" cy="7772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3" name="Text 18"/>
          <p:cNvSpPr/>
          <p:nvPr/>
        </p:nvSpPr>
        <p:spPr>
          <a:xfrm>
            <a:off x="6766560" y="34472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766560" y="37490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well-separated and cohesive the resulting clusters are (target &gt; 0.30).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37960" y="4434840"/>
            <a:ext cx="54864" cy="7772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6" name="Text 21"/>
          <p:cNvSpPr/>
          <p:nvPr/>
        </p:nvSpPr>
        <p:spPr>
          <a:xfrm>
            <a:off x="6766560" y="44074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Profiling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6766560" y="47091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comparison of cluster centroids against domain intuition for learning behavior.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7F8FB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276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346,860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interactions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55448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7F8FB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6276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46120" y="22128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7F8FB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6276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34,864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943600" y="22128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student–skill profiles built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41080" y="155448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7F8FB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16276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641080" y="22128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834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ASSISTments 2009–10 Skill-Builder dataset  ·  one row per problem-solving interaction, aggregated to one row per student per skill</a:t>
            </a:r>
            <a:endParaRPr lang="en-US" sz="1150" dirty="0"/>
          </a:p>
        </p:txBody>
      </p:sp>
      <p:pic>
        <p:nvPicPr>
          <p:cNvPr id="17" name="Image 0" descr="icons/database_E457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91840"/>
            <a:ext cx="411480" cy="4114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51560" y="3291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6492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Representative Fields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E"/>
                          </a:solidFill>
                        </a:rPr>
                        <a:t>Student &amp; Class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</a:rPr>
                        <a:t>user_id, student_class_id, teacher_id, school_id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E"/>
                          </a:solidFill>
                        </a:rPr>
                        <a:t>Assignment &amp; Skill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</a:rPr>
                        <a:t>assignment_id, sequence_id, skill_name, opportunity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E"/>
                          </a:solidFill>
                        </a:rPr>
                        <a:t>Behavior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</a:rPr>
                        <a:t>attempt_count, hint_count, hint_total, ms_first_response, bottom_hint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E"/>
                          </a:solidFill>
                        </a:rPr>
                        <a:t>Response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</a:rPr>
                        <a:t>correct, answer_type, first_action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3291840"/>
            <a:ext cx="4251960" cy="2743200"/>
          </a:xfrm>
          <a:prstGeom prst="roundRect">
            <a:avLst>
              <a:gd name="adj" fmla="val 2667"/>
            </a:avLst>
          </a:prstGeom>
          <a:solidFill>
            <a:srgbClr val="3E5C93"/>
          </a:solidFill>
          <a:ln/>
        </p:spPr>
      </p:sp>
      <p:sp>
        <p:nvSpPr>
          <p:cNvPr id="21" name="Text 17"/>
          <p:cNvSpPr/>
          <p:nvPr/>
        </p:nvSpPr>
        <p:spPr>
          <a:xfrm>
            <a:off x="7680960" y="3474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on the target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7680960" y="388620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unsupervised project — there is no label to predict. “correct” is used only as an input signal (via accuracy_rate), not as a target class, so target balance and target distribution don’t apply here.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for Modeling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F7F8FB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457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skill_name / skill_id missing on ~21% of rows — investigated, not random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13639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bottom_hint nulls (no hints used) filled with 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758184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Rare first_action values (test-mode rows) filtered out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4379976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missing values remained in the modeling table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1600200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F7F8FB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4572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1828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0" y="2514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aggregated from raw interactions to one record per student per skill: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0" y="31546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accuracy_rate, first_try_success_rate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0" y="355701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avg_attempts, retry_rate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0" y="39593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avg_hints, hint_usage_rate, bottom_hint_rate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0" y="43616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median_response_time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0" y="476402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avg_opportunity, total_interactions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4672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832104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4572E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61120" y="1828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&amp; Scaling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321040" y="251460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checks flagged outliers on several behavior features (e.g. bottom_hint_rate, avg_hints, avg_attempts) — these reflect real high-effort or struggling students, not data errors, so they were retained.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321040" y="3794760"/>
            <a:ext cx="3200400" cy="0"/>
          </a:xfrm>
          <a:prstGeom prst="line">
            <a:avLst/>
          </a:prstGeom>
          <a:noFill/>
          <a:ln w="12700">
            <a:solidFill>
              <a:srgbClr val="3E5C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3931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 chosen for pre-clustering scaling since it is resilient to these outliers.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21040" y="4663440"/>
            <a:ext cx="3200400" cy="0"/>
          </a:xfrm>
          <a:prstGeom prst="line">
            <a:avLst/>
          </a:prstGeom>
          <a:noFill/>
          <a:ln w="12700">
            <a:solidFill>
              <a:srgbClr val="3E5C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48006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correlation heatmap across the 11 numeric features was reviewed to flag redundancy before clustering.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Report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7F8FB"/>
          </a:solidFill>
          <a:ln w="12700">
            <a:solidFill>
              <a:srgbClr val="E4E8F0"/>
            </a:solidFill>
            <a:prstDash val="solid"/>
          </a:ln>
        </p:spPr>
      </p:sp>
      <p:pic>
        <p:nvPicPr>
          <p:cNvPr id="5" name="Image 0" descr="icons/warning_E457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2514600"/>
            <a:ext cx="109728" cy="1097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238658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ground-truth labels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267004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unsupervised task, cluster quality can only be judged with internal metrics and domain judgment — not accuracy against a known answer.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3410712"/>
            <a:ext cx="109728" cy="1097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28269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skill data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35661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~21% of interactions lack a skill_name/skill_id, requiring careful handling before aggregation.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2960" y="4306824"/>
            <a:ext cx="109728" cy="1097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417880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Outlier-heavy behavior features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446227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and attempt features are naturally right-skewed, which shapes the scaling and distance-metric choices for clustering.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2960" y="5202936"/>
            <a:ext cx="109728" cy="1097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4"/>
          <p:cNvSpPr/>
          <p:nvPr/>
        </p:nvSpPr>
        <p:spPr>
          <a:xfrm>
            <a:off x="1051560" y="50749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K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535838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and silhouette results don’t always agree cleanly — needs cross-checking with cluster interpretability.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17920" y="160020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</p:spPr>
      </p:sp>
      <p:pic>
        <p:nvPicPr>
          <p:cNvPr id="20" name="Image 1" descr="icons/arrow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8660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6492240" y="25146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23" name="Text 19"/>
          <p:cNvSpPr/>
          <p:nvPr/>
        </p:nvSpPr>
        <p:spPr>
          <a:xfrm>
            <a:off x="649224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995160" y="249631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scaled feature set (RobustScaler) for clustering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492240" y="32004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26" name="Text 22"/>
          <p:cNvSpPr/>
          <p:nvPr/>
        </p:nvSpPr>
        <p:spPr>
          <a:xfrm>
            <a:off x="649224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995160" y="318211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K-Means across a range of K; select via Elbow + Silhouette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492240" y="38862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29" name="Text 25"/>
          <p:cNvSpPr/>
          <p:nvPr/>
        </p:nvSpPr>
        <p:spPr>
          <a:xfrm>
            <a:off x="649224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995160" y="386791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Hierarchical Clustering and DBSCAN as comparison models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6492240" y="45720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2" name="Text 28"/>
          <p:cNvSpPr/>
          <p:nvPr/>
        </p:nvSpPr>
        <p:spPr>
          <a:xfrm>
            <a:off x="649224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995160" y="455371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each cluster's centroid into a named learning persona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492240" y="5257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5" name="Text 31"/>
          <p:cNvSpPr/>
          <p:nvPr/>
        </p:nvSpPr>
        <p:spPr>
          <a:xfrm>
            <a:off x="6492240" y="5257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6995160" y="523951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profiles against domain intuition and summarize findings for educators</a:t>
            </a:r>
            <a:endParaRPr lang="en-US" sz="1250" dirty="0"/>
          </a:p>
        </p:txBody>
      </p:sp>
      <p:sp>
        <p:nvSpPr>
          <p:cNvPr id="37" name="Text 3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2026-08-19T10:21:57Z</dcterms:created>
  <dcterms:modified xsi:type="dcterms:W3CDTF">2026-08-19T10:21:57Z</dcterms:modified>
</cp:coreProperties>
</file>